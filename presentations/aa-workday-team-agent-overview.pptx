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64592" cy="5120640"/>
          </a:xfrm>
          <a:prstGeom prst="rect">
            <a:avLst/>
          </a:prstGeom>
          <a:solidFill>
            <a:srgbClr val="C29B48"/>
          </a:solidFill>
          <a:ln>
            <a:solidFill>
              <a:srgbClr val="C29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AA Workday Team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F7FA"/>
                </a:solidFill>
              </a:rPr>
              <a:t>Microsoft Foundry + Foundry Agent Service + Microsoft Agent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6583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Solution name: AA Workday Team Agent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One-line impact: Reduce time spent hunting for Workday documentation and integration facts by grounding answers in SharePoint content and a normalized integration catalog.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Team name: AA Hack Workday Team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Team members: To be confirmed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1645920" cy="1463040"/>
          </a:xfrm>
          <a:prstGeom prst="roundRect">
            <a:avLst/>
          </a:prstGeom>
          <a:solidFill>
            <a:srgbClr val="12757D"/>
          </a:solidFill>
          <a:ln>
            <a:solidFill>
              <a:srgbClr val="12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Lookup time</a:t>
            </a:r>
          </a:p>
          <a:p>
            <a:r>
              <a:rPr sz="2400" b="1">
                <a:solidFill>
                  <a:srgbClr val="FFFFFF"/>
                </a:solidFill>
              </a:rPr>
              <a:t>5x faster</a:t>
            </a:r>
          </a:p>
          <a:p>
            <a:r>
              <a:rPr sz="1100">
                <a:solidFill>
                  <a:srgbClr val="FFFFFF"/>
                </a:solidFill>
              </a:rPr>
              <a:t>Illustrative target for support triage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645920"/>
            <a:ext cx="1645920" cy="1463040"/>
          </a:xfrm>
          <a:prstGeom prst="roundRect">
            <a:avLst/>
          </a:prstGeom>
          <a:solidFill>
            <a:srgbClr val="1E4E79"/>
          </a:solidFill>
          <a:ln>
            <a:solidFill>
              <a:srgbClr val="1E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Coverage</a:t>
            </a:r>
          </a:p>
          <a:p>
            <a:r>
              <a:rPr sz="2400" b="1">
                <a:solidFill>
                  <a:srgbClr val="FFFFFF"/>
                </a:solidFill>
              </a:rPr>
              <a:t>2 sources</a:t>
            </a:r>
          </a:p>
          <a:p>
            <a:r>
              <a:rPr sz="1100">
                <a:solidFill>
                  <a:srgbClr val="FFFFFF"/>
                </a:solidFill>
              </a:rPr>
              <a:t>SharePoint + integration inventory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474720"/>
            <a:ext cx="3383280" cy="1463040"/>
          </a:xfrm>
          <a:prstGeom prst="roundRect">
            <a:avLst/>
          </a:prstGeom>
          <a:solidFill>
            <a:srgbClr val="B42A2A"/>
          </a:solidFill>
          <a:ln>
            <a:solidFill>
              <a:srgbClr val="B4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Trust model</a:t>
            </a:r>
          </a:p>
          <a:p>
            <a:r>
              <a:rPr sz="2400" b="1">
                <a:solidFill>
                  <a:srgbClr val="FFFFFF"/>
                </a:solidFill>
              </a:rPr>
              <a:t>Cited answers</a:t>
            </a:r>
          </a:p>
          <a:p>
            <a:r>
              <a:rPr sz="1100">
                <a:solidFill>
                  <a:srgbClr val="FFFFFF"/>
                </a:solidFill>
              </a:rPr>
              <a:t>Every factual answer points back to a document or spreadsheet row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A"/>
                </a:solidFill>
              </a:rPr>
              <a:t>Business / IT Problem and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707A"/>
                </a:solidFill>
              </a:rPr>
              <a:t>Why the AA Workday support team needs this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831"/>
                </a:solidFill>
              </a:defRPr>
            </a:pPr>
            <a:r>
              <a:t>Who is impacted: HRIS analysts, Workday integration support, payroll and recruiting operations, and downstream business teams waiting on answers.</a:t>
            </a:r>
          </a:p>
          <a:p>
            <a:pPr>
              <a:spcAft>
                <a:spcPts val="1000"/>
              </a:spcAft>
              <a:defRPr sz="1900">
                <a:solidFill>
                  <a:srgbClr val="222831"/>
                </a:solidFill>
              </a:defRPr>
            </a:pPr>
            <a:r>
              <a:t>Current pain points: Legacy SharePoint content is hard to search, integration facts live in spreadsheets, ownership is inconsistent, and analysts depend on tribal knowledge.</a:t>
            </a:r>
          </a:p>
          <a:p>
            <a:pPr>
              <a:spcAft>
                <a:spcPts val="1000"/>
              </a:spcAft>
              <a:defRPr sz="1900">
                <a:solidFill>
                  <a:srgbClr val="222831"/>
                </a:solidFill>
              </a:defRPr>
            </a:pPr>
            <a:r>
              <a:t>Business / IT impact: Slower triage, higher escalation volume, duplicated investigation work, and longer time to resolve operational questions.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737360"/>
            <a:ext cx="1554480" cy="1371600"/>
          </a:xfrm>
          <a:prstGeom prst="round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Time</a:t>
            </a:r>
          </a:p>
          <a:p>
            <a:r>
              <a:rPr sz="2400" b="1">
                <a:solidFill>
                  <a:srgbClr val="FFFFFF"/>
                </a:solidFill>
              </a:rPr>
              <a:t>30-60 min</a:t>
            </a:r>
          </a:p>
          <a:p>
            <a:r>
              <a:rPr sz="1100">
                <a:solidFill>
                  <a:srgbClr val="FFFFFF"/>
                </a:solidFill>
              </a:rPr>
              <a:t>Typical manual lookup across docs and spreadsheets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737360"/>
            <a:ext cx="1554480" cy="1371600"/>
          </a:xfrm>
          <a:prstGeom prst="roundRect">
            <a:avLst/>
          </a:prstGeom>
          <a:solidFill>
            <a:srgbClr val="1E4E79"/>
          </a:solidFill>
          <a:ln>
            <a:solidFill>
              <a:srgbClr val="1E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Target</a:t>
            </a:r>
          </a:p>
          <a:p>
            <a:r>
              <a:rPr sz="2400" b="1">
                <a:solidFill>
                  <a:srgbClr val="FFFFFF"/>
                </a:solidFill>
              </a:rPr>
              <a:t>&lt; 5 min</a:t>
            </a:r>
          </a:p>
          <a:p>
            <a:r>
              <a:rPr sz="1100">
                <a:solidFill>
                  <a:srgbClr val="FFFFFF"/>
                </a:solidFill>
              </a:rPr>
              <a:t>AI-assisted answer with citations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1737360"/>
            <a:ext cx="1463040" cy="1371600"/>
          </a:xfrm>
          <a:prstGeom prst="roundRect">
            <a:avLst/>
          </a:prstGeom>
          <a:solidFill>
            <a:srgbClr val="12757D"/>
          </a:solidFill>
          <a:ln>
            <a:solidFill>
              <a:srgbClr val="12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Value</a:t>
            </a:r>
          </a:p>
          <a:p>
            <a:r>
              <a:rPr sz="2400" b="1">
                <a:solidFill>
                  <a:srgbClr val="FFFFFF"/>
                </a:solidFill>
              </a:rPr>
              <a:t>Lower cost</a:t>
            </a:r>
          </a:p>
          <a:p>
            <a:r>
              <a:rPr sz="1100">
                <a:solidFill>
                  <a:srgbClr val="FFFFFF"/>
                </a:solidFill>
              </a:rPr>
              <a:t>Less analyst effort per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4747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831"/>
                </a:solidFill>
              </a:defRPr>
            </a:pPr>
            <a:r>
              <a:t>Time savings hypothesis: reclaim analyst time by answering recurring questions immediately.</a:t>
            </a:r>
          </a:p>
          <a:p>
            <a:pPr>
              <a:spcAft>
                <a:spcPts val="1000"/>
              </a:spcAft>
              <a:defRPr sz="1800">
                <a:solidFill>
                  <a:srgbClr val="222831"/>
                </a:solidFill>
              </a:defRPr>
            </a:pPr>
            <a:r>
              <a:t>Cost reduction hypothesis: reduce unnecessary escalations and rework during support investigations.</a:t>
            </a:r>
          </a:p>
          <a:p>
            <a:pPr>
              <a:spcAft>
                <a:spcPts val="1000"/>
              </a:spcAft>
              <a:defRPr sz="1800">
                <a:solidFill>
                  <a:srgbClr val="222831"/>
                </a:solidFill>
              </a:defRPr>
            </a:pPr>
            <a:r>
              <a:t>Customer experience impact: faster answers for internal teams relying on Workday operations.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Value comes from faster retrieval, less tribal knowledge dependence, and better answer consistency.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A"/>
                </a:solidFill>
              </a:rPr>
              <a:t>Vision: What Good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707A"/>
                </a:solidFill>
              </a:rPr>
              <a:t>Before vs After the AI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1F3A"/>
                </a:solidFill>
              </a:rPr>
              <a:t>Before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46304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1F3A"/>
                </a:solidFill>
              </a:rPr>
              <a:t>After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4754880" cy="3474720"/>
          </a:xfrm>
          <a:prstGeom prst="roundRect">
            <a:avLst/>
          </a:prstGeom>
          <a:solidFill>
            <a:srgbClr val="ECF0F4"/>
          </a:solidFill>
          <a:ln>
            <a:solidFill>
              <a:srgbClr val="ECF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35040" y="1828800"/>
            <a:ext cx="5394960" cy="3474720"/>
          </a:xfrm>
          <a:prstGeom prst="roundRect">
            <a:avLst/>
          </a:prstGeom>
          <a:solidFill>
            <a:srgbClr val="E4F3F2"/>
          </a:solidFill>
          <a:ln>
            <a:solidFill>
              <a:srgbClr val="E4F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4297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831"/>
                </a:solidFill>
              </a:defRPr>
            </a:pPr>
            <a:r>
              <a:t>Analyst manually searches SharePoint and spreadsheets.</a:t>
            </a:r>
          </a:p>
          <a:p>
            <a:pPr>
              <a:spcAft>
                <a:spcPts val="1000"/>
              </a:spcAft>
              <a:defRPr sz="1800">
                <a:solidFill>
                  <a:srgbClr val="222831"/>
                </a:solidFill>
              </a:defRPr>
            </a:pPr>
            <a:r>
              <a:t>Support quality depends on who remembers the system history.</a:t>
            </a:r>
          </a:p>
          <a:p>
            <a:pPr>
              <a:spcAft>
                <a:spcPts val="1000"/>
              </a:spcAft>
              <a:defRPr sz="1800">
                <a:solidFill>
                  <a:srgbClr val="222831"/>
                </a:solidFill>
              </a:defRPr>
            </a:pPr>
            <a:r>
              <a:t>Conflicting answers take time to reconcile.</a:t>
            </a:r>
          </a:p>
          <a:p>
            <a:pPr>
              <a:spcAft>
                <a:spcPts val="1000"/>
              </a:spcAft>
              <a:defRPr sz="1800">
                <a:solidFill>
                  <a:srgbClr val="222831"/>
                </a:solidFill>
              </a:defRPr>
            </a:pPr>
            <a:r>
              <a:t>Low-confidence questions become escalations.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0312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831"/>
                </a:solidFill>
              </a:defRPr>
            </a:pPr>
            <a:r>
              <a:t>User asks a plain-language question in Teams or a web chat.</a:t>
            </a:r>
          </a:p>
          <a:p>
            <a:pPr>
              <a:spcAft>
                <a:spcPts val="1000"/>
              </a:spcAft>
              <a:defRPr sz="1800">
                <a:solidFill>
                  <a:srgbClr val="222831"/>
                </a:solidFill>
              </a:defRPr>
            </a:pPr>
            <a:r>
              <a:t>AI chooses the right tool path: documents, integration catalog, or both.</a:t>
            </a:r>
          </a:p>
          <a:p>
            <a:pPr>
              <a:spcAft>
                <a:spcPts val="1000"/>
              </a:spcAft>
              <a:defRPr sz="1800">
                <a:solidFill>
                  <a:srgbClr val="222831"/>
                </a:solidFill>
              </a:defRPr>
            </a:pPr>
            <a:r>
              <a:t>Answer includes citations, ownership, and supporting runbooks.</a:t>
            </a:r>
          </a:p>
          <a:p>
            <a:pPr>
              <a:spcAft>
                <a:spcPts val="1000"/>
              </a:spcAft>
              <a:defRPr sz="1800">
                <a:solidFill>
                  <a:srgbClr val="222831"/>
                </a:solidFill>
              </a:defRPr>
            </a:pPr>
            <a:r>
              <a:t>Missing knowledge is logged for backlog improvement instead of being lost.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2757D"/>
          </a:solidFill>
          <a:ln>
            <a:solidFill>
              <a:srgbClr val="12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AI changes the experience from manual hunting to guided, grounded operational support.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A"/>
                </a:solidFill>
              </a:rPr>
              <a:t>AI 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707A"/>
                </a:solidFill>
              </a:rPr>
              <a:t>Inputs → Intelligence → Outputs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1089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325880"/>
            <a:ext cx="1280160" cy="411480"/>
          </a:xfrm>
          <a:prstGeom prst="round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965960"/>
            <a:ext cx="2697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22831"/>
                </a:solidFill>
              </a:defRPr>
            </a:pPr>
            <a:r>
              <a:t>SharePoint documentation exports</a:t>
            </a:r>
          </a:p>
          <a:p>
            <a:pPr>
              <a:spcAft>
                <a:spcPts val="1000"/>
              </a:spcAft>
              <a:defRPr sz="1700">
                <a:solidFill>
                  <a:srgbClr val="222831"/>
                </a:solidFill>
              </a:defRPr>
            </a:pPr>
            <a:r>
              <a:t>Integration spreadsheet / normalized records</a:t>
            </a:r>
          </a:p>
          <a:p>
            <a:pPr>
              <a:spcAft>
                <a:spcPts val="1000"/>
              </a:spcAft>
              <a:defRPr sz="1700">
                <a:solidFill>
                  <a:srgbClr val="222831"/>
                </a:solidFill>
              </a:defRPr>
            </a:pPr>
            <a:r>
              <a:t>User question from chat or web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645920"/>
            <a:ext cx="31089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1E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97680" y="1325880"/>
            <a:ext cx="1280160" cy="411480"/>
          </a:xfrm>
          <a:prstGeom prst="roundRect">
            <a:avLst/>
          </a:prstGeom>
          <a:solidFill>
            <a:srgbClr val="1E4E79"/>
          </a:solidFill>
          <a:ln>
            <a:solidFill>
              <a:srgbClr val="1E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0248" y="1965960"/>
            <a:ext cx="2697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22831"/>
                </a:solidFill>
              </a:defRPr>
            </a:pPr>
            <a:r>
              <a:t>Foundry hosted agent orchestration</a:t>
            </a:r>
          </a:p>
          <a:p>
            <a:pPr>
              <a:spcAft>
                <a:spcPts val="1000"/>
              </a:spcAft>
              <a:defRPr sz="1700">
                <a:solidFill>
                  <a:srgbClr val="222831"/>
                </a:solidFill>
              </a:defRPr>
            </a:pPr>
            <a:r>
              <a:t>Agent Framework tools for retrieval and catalog lookup</a:t>
            </a:r>
          </a:p>
          <a:p>
            <a:pPr>
              <a:spcAft>
                <a:spcPts val="1000"/>
              </a:spcAft>
              <a:defRPr sz="1700">
                <a:solidFill>
                  <a:srgbClr val="222831"/>
                </a:solidFill>
              </a:defRPr>
            </a:pPr>
            <a:r>
              <a:t>Answer composition with citations and uncertainty handling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645920"/>
            <a:ext cx="31089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12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0" y="1325880"/>
            <a:ext cx="1280160" cy="411480"/>
          </a:xfrm>
          <a:prstGeom prst="roundRect">
            <a:avLst/>
          </a:prstGeom>
          <a:solidFill>
            <a:srgbClr val="12757D"/>
          </a:solidFill>
          <a:ln>
            <a:solidFill>
              <a:srgbClr val="12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965960"/>
            <a:ext cx="2697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22831"/>
                </a:solidFill>
              </a:defRPr>
            </a:pPr>
            <a:r>
              <a:t>Grounded natural language answer</a:t>
            </a:r>
          </a:p>
          <a:p>
            <a:pPr>
              <a:spcAft>
                <a:spcPts val="1000"/>
              </a:spcAft>
              <a:defRPr sz="1700">
                <a:solidFill>
                  <a:srgbClr val="222831"/>
                </a:solidFill>
              </a:defRPr>
            </a:pPr>
            <a:r>
              <a:t>Structured integration facts</a:t>
            </a:r>
          </a:p>
          <a:p>
            <a:pPr>
              <a:spcAft>
                <a:spcPts val="1000"/>
              </a:spcAft>
              <a:defRPr sz="1700">
                <a:solidFill>
                  <a:srgbClr val="222831"/>
                </a:solidFill>
              </a:defRPr>
            </a:pPr>
            <a:r>
              <a:t>Citations to docs and spreadsheet rows</a:t>
            </a:r>
          </a:p>
          <a:p>
            <a:pPr>
              <a:spcAft>
                <a:spcPts val="1000"/>
              </a:spcAft>
              <a:defRPr sz="1700">
                <a:solidFill>
                  <a:srgbClr val="222831"/>
                </a:solidFill>
              </a:defRPr>
            </a:pPr>
            <a:r>
              <a:t>Knowledge-gap log for follow-up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Design principle: treat SharePoint as unstructured knowledge and the spreadsheet as structured operational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A"/>
                </a:solidFill>
              </a:rPr>
              <a:t>AI Security and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707A"/>
                </a:solidFill>
              </a:rPr>
              <a:t>Security posture for HR-adjacent operational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831"/>
                </a:solidFill>
              </a:defRPr>
            </a:pPr>
            <a:r>
              <a:t>Enterprise authentication only for internal access.</a:t>
            </a:r>
          </a:p>
          <a:p>
            <a:pPr>
              <a:spcAft>
                <a:spcPts val="1000"/>
              </a:spcAft>
              <a:defRPr sz="1900">
                <a:solidFill>
                  <a:srgbClr val="222831"/>
                </a:solidFill>
              </a:defRPr>
            </a:pPr>
            <a:r>
              <a:t>Role-based access aligned to the AA Workday support team and approved stakeholders.</a:t>
            </a:r>
          </a:p>
          <a:p>
            <a:pPr>
              <a:spcAft>
                <a:spcPts val="1000"/>
              </a:spcAft>
              <a:defRPr sz="1900">
                <a:solidFill>
                  <a:srgbClr val="222831"/>
                </a:solidFill>
              </a:defRPr>
            </a:pPr>
            <a:r>
              <a:t>Read-only advisory design for phase one with no Workday write actions.</a:t>
            </a:r>
          </a:p>
          <a:p>
            <a:pPr>
              <a:spcAft>
                <a:spcPts val="1000"/>
              </a:spcAft>
              <a:defRPr sz="1900">
                <a:solidFill>
                  <a:srgbClr val="222831"/>
                </a:solidFill>
              </a:defRPr>
            </a:pPr>
            <a:r>
              <a:t>No training on user conversations by default.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831"/>
                </a:solidFill>
              </a:defRPr>
            </a:pPr>
            <a:r>
              <a:t>Every factual answer is expected to carry citations back to source documents or spreadsheet rows.</a:t>
            </a:r>
          </a:p>
          <a:p>
            <a:pPr>
              <a:spcAft>
                <a:spcPts val="1000"/>
              </a:spcAft>
              <a:defRPr sz="1900">
                <a:solidFill>
                  <a:srgbClr val="222831"/>
                </a:solidFill>
              </a:defRPr>
            </a:pPr>
            <a:r>
              <a:t>Redaction and content controls can be added if sensitive fields appear in source data.</a:t>
            </a:r>
          </a:p>
          <a:p>
            <a:pPr>
              <a:spcAft>
                <a:spcPts val="1000"/>
              </a:spcAft>
              <a:defRPr sz="1900">
                <a:solidFill>
                  <a:srgbClr val="222831"/>
                </a:solidFill>
              </a:defRPr>
            </a:pPr>
            <a:r>
              <a:t>Knowledge gaps and low-confidence answers become auditable follow-up items.</a:t>
            </a:r>
          </a:p>
          <a:p>
            <a:pPr>
              <a:spcAft>
                <a:spcPts val="1000"/>
              </a:spcAft>
              <a:defRPr sz="1900">
                <a:solidFill>
                  <a:srgbClr val="222831"/>
                </a:solidFill>
              </a:defRPr>
            </a:pPr>
            <a:r>
              <a:t>Foundry hosting keeps the agent service inside an enterprise-grade operational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B42A2A"/>
          </a:solidFill>
          <a:ln>
            <a:solidFill>
              <a:srgbClr val="B4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Trust is created by least privilege, grounded answers, and a clear boundary between advice and 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A"/>
                </a:solidFill>
              </a:rPr>
              <a:t>Demo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707A"/>
                </a:solidFill>
              </a:rPr>
              <a:t>How the user, AI reasoning, and business value connect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554480"/>
            <a:ext cx="1828800" cy="640080"/>
          </a:xfrm>
          <a:prstGeom prst="round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1. User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554480"/>
            <a:ext cx="81381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222831"/>
                </a:solidFill>
              </a:rPr>
              <a:t>Analyst asks: 'What integrations feed payroll and where is the support documentation?'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606039"/>
            <a:ext cx="1828800" cy="640080"/>
          </a:xfrm>
          <a:prstGeom prst="roundRect">
            <a:avLst/>
          </a:prstGeom>
          <a:solidFill>
            <a:srgbClr val="1E4E79"/>
          </a:solidFill>
          <a:ln>
            <a:solidFill>
              <a:srgbClr val="1E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2. AI reasoning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606039"/>
            <a:ext cx="81381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1E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222831"/>
                </a:solidFill>
              </a:rPr>
              <a:t>The agent queries the integration catalog for payroll-related records, then retrieves matching SharePoint design and runbook content.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657600"/>
            <a:ext cx="1828800" cy="640080"/>
          </a:xfrm>
          <a:prstGeom prst="roundRect">
            <a:avLst/>
          </a:prstGeom>
          <a:solidFill>
            <a:srgbClr val="12757D"/>
          </a:solidFill>
          <a:ln>
            <a:solidFill>
              <a:srgbClr val="12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3. 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3657600"/>
            <a:ext cx="81381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12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222831"/>
                </a:solidFill>
              </a:rPr>
              <a:t>The agent returns the payroll vendor export details, owner team, support contact, cadence, and links the relevant design or runbook.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709159"/>
            <a:ext cx="1828800" cy="640080"/>
          </a:xfrm>
          <a:prstGeom prst="roundRect">
            <a:avLst/>
          </a:prstGeom>
          <a:solidFill>
            <a:srgbClr val="B42A2A"/>
          </a:solidFill>
          <a:ln>
            <a:solidFill>
              <a:srgbClr val="B4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4.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4709159"/>
            <a:ext cx="81381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B4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222831"/>
                </a:solidFill>
              </a:rPr>
              <a:t>The analyst gets a grounded answer in one interaction, avoids manual hunting, and can escalate with context if needed.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2757D"/>
          </a:solidFill>
          <a:ln>
            <a:solidFill>
              <a:srgbClr val="12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Demo story: one question, two knowledge sources, one cited answer.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F7FA"/>
                </a:solidFill>
              </a:rPr>
              <a:t>From MVP to production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FFFFFF"/>
                </a:solidFill>
              </a:defRPr>
            </a:pPr>
            <a:r>
              <a:t>Replace sample JSON with real SharePoint export and spreadsheet normalization pipelines.</a:t>
            </a:r>
          </a:p>
          <a:p>
            <a:pPr>
              <a:spcAft>
                <a:spcPts val="1000"/>
              </a:spcAft>
              <a:defRPr sz="2100">
                <a:solidFill>
                  <a:srgbClr val="FFFFFF"/>
                </a:solidFill>
              </a:defRPr>
            </a:pPr>
            <a:r>
              <a:t>Configure Foundry project endpoint, model deployment, and environment variables.</a:t>
            </a:r>
          </a:p>
          <a:p>
            <a:pPr>
              <a:spcAft>
                <a:spcPts val="1000"/>
              </a:spcAft>
              <a:defRPr sz="2100">
                <a:solidFill>
                  <a:srgbClr val="FFFFFF"/>
                </a:solidFill>
              </a:defRPr>
            </a:pPr>
            <a:r>
              <a:t>Pilot with a small AA Workday support group and capture unanswered questions.</a:t>
            </a:r>
          </a:p>
          <a:p>
            <a:pPr>
              <a:spcAft>
                <a:spcPts val="1000"/>
              </a:spcAft>
              <a:defRPr sz="2100">
                <a:solidFill>
                  <a:srgbClr val="FFFFFF"/>
                </a:solidFill>
              </a:defRPr>
            </a:pPr>
            <a:r>
              <a:t>Add stronger retrieval ranking, telemetry, and operational dashboards.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5029200"/>
            <a:ext cx="3108960" cy="1097280"/>
          </a:xfrm>
          <a:prstGeom prst="roundRect">
            <a:avLst/>
          </a:prstGeom>
          <a:solidFill>
            <a:srgbClr val="1E4E79"/>
          </a:solidFill>
          <a:ln>
            <a:solidFill>
              <a:srgbClr val="1E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MVP goal</a:t>
            </a:r>
          </a:p>
          <a:p>
            <a:r>
              <a:rPr sz="2400" b="1">
                <a:solidFill>
                  <a:srgbClr val="FFFFFF"/>
                </a:solidFill>
              </a:rPr>
              <a:t>Operational assistant</a:t>
            </a:r>
          </a:p>
          <a:p>
            <a:r>
              <a:rPr sz="1100">
                <a:solidFill>
                  <a:srgbClr val="FFFFFF"/>
                </a:solidFill>
              </a:rPr>
              <a:t>Grounded answers with citations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5029200"/>
            <a:ext cx="3108960" cy="1097280"/>
          </a:xfrm>
          <a:prstGeom prst="roundRect">
            <a:avLst/>
          </a:prstGeom>
          <a:solidFill>
            <a:srgbClr val="12757D"/>
          </a:solidFill>
          <a:ln>
            <a:solidFill>
              <a:srgbClr val="12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Pilot focus</a:t>
            </a:r>
          </a:p>
          <a:p>
            <a:r>
              <a:rPr sz="2400" b="1">
                <a:solidFill>
                  <a:srgbClr val="FFFFFF"/>
                </a:solidFill>
              </a:rPr>
              <a:t>Analyst productivity</a:t>
            </a:r>
          </a:p>
          <a:p>
            <a:r>
              <a:rPr sz="1100">
                <a:solidFill>
                  <a:srgbClr val="FFFFFF"/>
                </a:solidFill>
              </a:rPr>
              <a:t>Faster triage and better consistency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5029200"/>
            <a:ext cx="3108960" cy="1097280"/>
          </a:xfrm>
          <a:prstGeom prst="roundRect">
            <a:avLst/>
          </a:prstGeom>
          <a:solidFill>
            <a:srgbClr val="B42A2A"/>
          </a:solidFill>
          <a:ln>
            <a:solidFill>
              <a:srgbClr val="B4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Scale path</a:t>
            </a:r>
          </a:p>
          <a:p>
            <a:r>
              <a:rPr sz="2400" b="1">
                <a:solidFill>
                  <a:srgbClr val="FFFFFF"/>
                </a:solidFill>
              </a:rPr>
              <a:t>Teams + enterprise data</a:t>
            </a:r>
          </a:p>
          <a:p>
            <a:r>
              <a:rPr sz="1100">
                <a:solidFill>
                  <a:srgbClr val="FFFFFF"/>
                </a:solidFill>
              </a:rPr>
              <a:t>Production retrieval and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